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E5E7EB"/>
                </a:solidFill>
                <a:latin typeface="Segoe UI"/>
              </a:rPr>
              <a:t>Trading Bot</a:t>
            </a:r>
          </a:p>
          <a:p>
            <a:r>
              <a:rPr sz="2400">
                <a:solidFill>
                  <a:srgbClr val="818CF8"/>
                </a:solidFill>
                <a:latin typeface="Segoe UI"/>
              </a:rPr>
              <a:t>Product Specification — as built</a:t>
            </a:r>
          </a:p>
          <a:p>
            <a:r>
              <a:rPr sz="1400">
                <a:solidFill>
                  <a:srgbClr val="94A3B8"/>
                </a:solidFill>
                <a:latin typeface="Segoe UI"/>
              </a:rPr>
              <a:t>Algorithmic trading assistant for US stocks, Taiwan stocks (TWSE) and crypto
Version 0.2  ·  2026-07-10  ·  screenshots captured live from the running app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2057400"/>
            <a:ext cx="2926080" cy="381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5E7EB"/>
                </a:solidFill>
                <a:latin typeface="Segoe UI"/>
              </a:rPr>
              <a:t>Product Overview</a:t>
            </a:r>
          </a:p>
          <a:p>
            <a:r>
              <a:rPr sz="1300">
                <a:solidFill>
                  <a:srgbClr val="94A3B8"/>
                </a:solidFill>
                <a:latin typeface="Segoe UI"/>
              </a:rPr>
              <a:t>What the product is and the rules it lives by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2011680" cy="317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5760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818CF8"/>
                </a:solidFill>
                <a:latin typeface="Segoe UI"/>
              </a:rPr>
              <a:t>• What it is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– A personal analysis &amp; planning tool for retail investors — it explains and simulates; it does not place orders.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– Markets: US equities, Taiwan equities (TWSE), crypto pairs (Binance).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818CF8"/>
                </a:solidFill>
                <a:latin typeface="Segoe UI"/>
              </a:rPr>
              <a:t>• Four core capabilities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– Stock Analysis — indicators + news sentiment fused into one explainable Buy/Hold/Sell verdict.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– Strategy Backtest — 6 rule-based strategies, next-bar execution, always benchmarked vs buy &amp; hold.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– Investment Planner — monthly DCA plans by sector, historically simulated vs 0050.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– Sentiment Engine — VADER over Google News, multi-query, per-article scores.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818CF8"/>
                </a:solidFill>
                <a:latin typeface="Segoe UI"/>
              </a:rPr>
              <a:t>• Target user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– Individual investor comfortable with basic quant concepts (SMA, RSI, Sharpe) who wants explainable signals, not a black box.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0" y="132588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818CF8"/>
                </a:solidFill>
                <a:latin typeface="Segoe UI"/>
              </a:rPr>
              <a:t>• Guiding principles (enforced conventions)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– Quant engine is pure Python (stdlib + requests) — no numpy/pandas by design.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– Price data degrades gracefully: live source → fallback → deterministic synthetic; every degraded response carries a warning the UI must display.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– Backtests use next-bar execution (no look-ahead) and always include a buy-and-hold benchmark.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– API response shapes are mirrored 1:1 by TypeScript types in src/api/ — both sides change in the same task.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– Every simulated or projected figure ships with a disclaimer; verdicts are model output, not advice.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818CF8"/>
                </a:solidFill>
                <a:latin typeface="Segoe UI"/>
              </a:rPr>
              <a:t>• UI idiom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– Dark Tailwind theme (gray-900/800 gradients, rounded-3xl cards, indigo accents), chart.js with instance cleanup.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5E7EB"/>
                </a:solidFill>
                <a:latin typeface="Segoe UI"/>
              </a:rPr>
              <a:t>System Architecture</a:t>
            </a:r>
          </a:p>
          <a:p>
            <a:r>
              <a:rPr sz="1300">
                <a:solidFill>
                  <a:srgbClr val="94A3B8"/>
                </a:solidFill>
                <a:latin typeface="Segoe UI"/>
              </a:rPr>
              <a:t>Three processes in dev; the Vite proxy is the seam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2011680" cy="317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7406640" cy="402336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77800" tIns="177800"/>
          <a:lstStyle/>
          <a:p>
            <a:pPr algn="ctr"/>
            <a:r>
              <a:rPr sz="1250">
                <a:solidFill>
                  <a:srgbClr val="E5E7EB"/>
                </a:solidFill>
                <a:latin typeface="Consolas"/>
              </a:rPr>
              <a:t>Vue 3 + TS + Vite + Tailwind  (dev :5173)</a:t>
            </a:r>
          </a:p>
          <a:p>
            <a:r>
              <a:rPr sz="1250">
                <a:solidFill>
                  <a:srgbClr val="E5E7EB"/>
                </a:solidFill>
                <a:latin typeface="Consolas"/>
              </a:rPr>
              <a:t>  views  +  typed API clients (src/api/*.ts)</a:t>
            </a:r>
          </a:p>
          <a:p>
            <a:r>
              <a:rPr sz="1250">
                <a:solidFill>
                  <a:srgbClr val="E5E7EB"/>
                </a:solidFill>
                <a:latin typeface="Consolas"/>
              </a:rPr>
              <a:t>        │ vite proxy</a:t>
            </a:r>
          </a:p>
          <a:p>
            <a:r>
              <a:rPr sz="1250">
                <a:solidFill>
                  <a:srgbClr val="E5E7EB"/>
                </a:solidFill>
                <a:latin typeface="Consolas"/>
              </a:rPr>
              <a:t>        ├── /api/login, /api/register  →  Express auth server  :3000</a:t>
            </a:r>
          </a:p>
          <a:p>
            <a:r>
              <a:rPr sz="1250">
                <a:solidFill>
                  <a:srgbClr val="E5E7EB"/>
                </a:solidFill>
                <a:latin typeface="Consolas"/>
              </a:rPr>
              <a:t>        │                                 MongoDB · bcrypt · JWT (1h)</a:t>
            </a:r>
          </a:p>
          <a:p>
            <a:r>
              <a:rPr sz="1250">
                <a:solidFill>
                  <a:srgbClr val="E5E7EB"/>
                </a:solidFill>
                <a:latin typeface="Consolas"/>
              </a:rPr>
              <a:t>        ├── all other /api/*           →  FastAPI app  :8000</a:t>
            </a:r>
          </a:p>
          <a:p>
            <a:r>
              <a:rPr sz="1250">
                <a:solidFill>
                  <a:srgbClr val="E5E7EB"/>
                </a:solidFill>
                <a:latin typeface="Consolas"/>
              </a:rPr>
              <a:t>        │                                 quant engine + sentiment (stateless)</a:t>
            </a:r>
          </a:p>
          <a:p>
            <a:r>
              <a:rPr sz="1250">
                <a:solidFill>
                  <a:srgbClr val="E5E7EB"/>
                </a:solidFill>
                <a:latin typeface="Consolas"/>
              </a:rPr>
              <a:t>        └── /av, /twse                 →  legacy external proxies (Dashboard only)</a:t>
            </a:r>
          </a:p>
          <a:p>
            <a:r>
              <a:rPr sz="1250">
                <a:solidFill>
                  <a:srgbClr val="E5E7EB"/>
                </a:solidFill>
                <a:latin typeface="Consolas"/>
              </a:rPr>
              <a:t/>
            </a:r>
          </a:p>
          <a:p>
            <a:r>
              <a:rPr sz="1250">
                <a:solidFill>
                  <a:srgbClr val="E5E7EB"/>
                </a:solidFill>
                <a:latin typeface="Consolas"/>
              </a:rPr>
              <a:t>Outbound data:  Yahoo Finance → Stooq → synthetic   (stocks)</a:t>
            </a:r>
          </a:p>
          <a:p>
            <a:r>
              <a:rPr sz="1250">
                <a:solidFill>
                  <a:srgbClr val="E5E7EB"/>
                </a:solidFill>
                <a:latin typeface="Consolas"/>
              </a:rPr>
              <a:t>                Binance → synthetic                 (crypto)</a:t>
            </a:r>
          </a:p>
          <a:p>
            <a:r>
              <a:rPr sz="1250">
                <a:solidFill>
                  <a:srgbClr val="E5E7EB"/>
                </a:solidFill>
                <a:latin typeface="Consolas"/>
              </a:rPr>
              <a:t>                Google News RSS + VADER             (sentiment)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2440" y="1371600"/>
            <a:ext cx="3657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818CF8"/>
                </a:solidFill>
                <a:latin typeface="Segoe UI"/>
              </a:rPr>
              <a:t>• Frontend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– Vue 3 &lt;script setup&gt;, vue-router (history), Pinia (installed), chart.js, floating-vue.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818CF8"/>
                </a:solidFill>
                <a:latin typeface="Segoe UI"/>
              </a:rPr>
              <a:t>• Analysis backend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– FastAPI, stateless, no auth/DB; all computation per request.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818CF8"/>
                </a:solidFill>
                <a:latin typeface="Segoe UI"/>
              </a:rPr>
              <a:t>• Auth backend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– Express + MongoDB 'trading-bot'; bcrypt(10) password hashes; JWT, 1-hour expiry.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818CF8"/>
                </a:solidFill>
                <a:latin typeface="Segoe UI"/>
              </a:rPr>
              <a:t>• Quality gates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– npm run type-check (gates build), lint, vitest; backend smoke snippets in .claude/skills/.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5E7EB"/>
                </a:solidFill>
                <a:latin typeface="Segoe UI"/>
              </a:rPr>
              <a:t>Price Data Layer</a:t>
            </a:r>
          </a:p>
          <a:p>
            <a:r>
              <a:rPr sz="1300">
                <a:solidFill>
                  <a:srgbClr val="94A3B8"/>
                </a:solidFill>
                <a:latin typeface="Segoe UI"/>
              </a:rPr>
              <a:t>backend/python/quant/data.py — symbol routing and graceful degradation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2011680" cy="317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17320"/>
          <a:ext cx="11247119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55745"/>
                <a:gridCol w="2959768"/>
                <a:gridCol w="5031606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818CF8"/>
                          </a:solidFill>
                          <a:latin typeface="Segoe UI"/>
                        </a:rPr>
                        <a:t>Symbol shape</a:t>
                      </a:r>
                    </a:p>
                  </a:txBody>
                  <a:tcPr marT="38100" marB="38100" marL="76200" marR="76200">
                    <a:solidFill>
                      <a:srgbClr val="27334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818CF8"/>
                          </a:solidFill>
                          <a:latin typeface="Segoe UI"/>
                        </a:rPr>
                        <a:t>Interpreted as</a:t>
                      </a:r>
                    </a:p>
                  </a:txBody>
                  <a:tcPr marT="38100" marB="38100" marL="76200" marR="76200">
                    <a:solidFill>
                      <a:srgbClr val="27334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818CF8"/>
                          </a:solidFill>
                          <a:latin typeface="Segoe UI"/>
                        </a:rPr>
                        <a:t>Source order</a:t>
                      </a:r>
                    </a:p>
                  </a:txBody>
                  <a:tcPr marT="38100" marB="38100" marL="76200" marR="76200">
                    <a:solidFill>
                      <a:srgbClr val="27334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5E7EB"/>
                          </a:solidFill>
                          <a:latin typeface="Segoe UI"/>
                        </a:rPr>
                        <a:t>ends in USDT / USD / BUSD / USDC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5E7EB"/>
                          </a:solidFill>
                          <a:latin typeface="Segoe UI"/>
                        </a:rPr>
                        <a:t>crypto pair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5E7EB"/>
                          </a:solidFill>
                          <a:latin typeface="Segoe UI"/>
                        </a:rPr>
                        <a:t>Binance daily klines → synthetic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5E7EB"/>
                          </a:solidFill>
                          <a:latin typeface="Segoe UI"/>
                        </a:rPr>
                        <a:t>all digits (2330, 0050)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5E7EB"/>
                          </a:solidFill>
                          <a:latin typeface="Segoe UI"/>
                        </a:rPr>
                        <a:t>TWSE listing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5E7EB"/>
                          </a:solidFill>
                          <a:latin typeface="Segoe UI"/>
                        </a:rPr>
                        <a:t>Yahoo (.TW) → Stooq (.tw) → synthetic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5E7EB"/>
                          </a:solidFill>
                          <a:latin typeface="Segoe UI"/>
                        </a:rPr>
                        <a:t>anything else (AAPL)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5E7EB"/>
                          </a:solidFill>
                          <a:latin typeface="Segoe UI"/>
                        </a:rPr>
                        <a:t>US listing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5E7EB"/>
                          </a:solidFill>
                          <a:latin typeface="Segoe UI"/>
                        </a:rPr>
                        <a:t>Yahoo → Stooq (.us) → synthetic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291840"/>
            <a:ext cx="11247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818CF8"/>
                </a:solidFill>
                <a:latin typeface="Segoe UI"/>
              </a:rPr>
              <a:t>• Degradation contract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– On any upstream failure the layer returns a seeded synthetic random walk (weekends skipped) with source: "synthetic" and a human-readable warning — the app keeps working offline.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– The UI must surface that warning in a yellow banner; synthetic data must never look real. This applies to benchmarks too.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– days is clamped to [30, 2000]; Yahoo range picked by lookback (6mo → 10y).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818CF8"/>
                </a:solidFill>
                <a:latin typeface="Segoe UI"/>
              </a:rPr>
              <a:t>• OHLCV shape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– Candle {date, open, high, low, close, volume}; PriceSeries {symbol, source, candles[], warning} — exposed raw via GET /api/history.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5E7EB"/>
                </a:solidFill>
                <a:latin typeface="Segoe UI"/>
              </a:rPr>
              <a:t>Dashboard  ( / )</a:t>
            </a:r>
          </a:p>
          <a:p>
            <a:r>
              <a:rPr sz="1300">
                <a:solidFill>
                  <a:srgbClr val="94A3B8"/>
                </a:solidFill>
                <a:latin typeface="Segoe UI"/>
              </a:rPr>
              <a:t>Landing page — portfolio snapshot + multi-symbol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2011680" cy="317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325880"/>
            <a:ext cx="6675120" cy="4171950"/>
          </a:xfrm>
          <a:prstGeom prst="rect">
            <a:avLst/>
          </a:prstGeom>
          <a:ln w="12700">
            <a:solidFill>
              <a:srgbClr val="334155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5120640" y="5548630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i="1">
                <a:solidFill>
                  <a:srgbClr val="94A3B8"/>
                </a:solidFill>
                <a:latin typeface="Segoe UI"/>
              </a:rPr>
              <a:t>Live capture — balance widget, category/symbol/graph controls, per-symbol chart cards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4480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818CF8"/>
                </a:solidFill>
                <a:latin typeface="Segoe UI"/>
              </a:rPr>
              <a:t>• Balance widget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– Total Assets / Debt / Net Assets cards + Cash &amp; Stock progress bars (mock values — no portfolio backend yet).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818CF8"/>
                </a:solidFill>
                <a:latin typeface="Segoe UI"/>
              </a:rPr>
              <a:t>• Comparison controls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– Category (US / Taiwan / Crypto), multi-select symbols from a static list, line/bar toggle.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– Per-symbol chart cards: price + volume &amp; return/loss placeholders, redrawn on any change.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– News section + Start Trading CTA (static).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F87171"/>
                </a:solidFill>
                <a:latin typeface="Segoe UI"/>
              </a:rPr>
              <a:t>• Known issue (QA H1/H2)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– Price charts render blank today: legacy Alpha Vantage path has no API key and a chart-destroy bug. Spec intent: migrate to internal /api/history.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5E7EB"/>
                </a:solidFill>
                <a:latin typeface="Segoe UI"/>
              </a:rPr>
              <a:t>Stock Analysis  ( /analysis )</a:t>
            </a:r>
          </a:p>
          <a:p>
            <a:r>
              <a:rPr sz="1300">
                <a:solidFill>
                  <a:srgbClr val="94A3B8"/>
                </a:solidFill>
                <a:latin typeface="Segoe UI"/>
              </a:rPr>
              <a:t>Indicators + news sentiment → one explainable verdict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2011680" cy="317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_analysis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9731" y="1325880"/>
            <a:ext cx="6036938" cy="4846320"/>
          </a:xfrm>
          <a:prstGeom prst="rect">
            <a:avLst/>
          </a:prstGeom>
          <a:ln w="12700">
            <a:solidFill>
              <a:srgbClr val="334155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5120640" y="6223000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i="1">
                <a:solidFill>
                  <a:srgbClr val="94A3B8"/>
                </a:solidFill>
                <a:latin typeface="Segoe UI"/>
              </a:rPr>
              <a:t>Live run — AAPL, 1-year lookback, Yahoo data: Hold verdict, signal breakdown, headline sentiment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4480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818CF8"/>
                </a:solidFill>
                <a:latin typeface="Segoe UI"/>
              </a:rPr>
              <a:t>• Inputs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– Symbol (free text), lookback 6mo/1y/2y, include-sentiment toggle (default on).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818CF8"/>
                </a:solidFill>
                <a:latin typeface="Segoe UI"/>
              </a:rPr>
              <a:t>• Output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– Verdict card (Strong Buy → Strong Sell) with composite score gauge in [-1, 1].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– Stat cards: last price + source, 30-day change, annualized volatility, max drawdown, sub-scores.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– Close + SMA20 + SMA50 chart.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– Signal list — every signal shows its indicator, reason and score contribution.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– News panel: pos/neu/neg counts + top-5 linked headlines.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818CF8"/>
                </a:solidFill>
                <a:latin typeface="Segoe UI"/>
              </a:rPr>
              <a:t>• Degradation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– Synthetic-data warning banner; sentiment failure degrades to score 0 with its own warning; min 30 bars or HTTP 422.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5E7EB"/>
                </a:solidFill>
                <a:latin typeface="Segoe UI"/>
              </a:rPr>
              <a:t>Analysis Scoring Model</a:t>
            </a:r>
          </a:p>
          <a:p>
            <a:r>
              <a:rPr sz="1300">
                <a:solidFill>
                  <a:srgbClr val="94A3B8"/>
                </a:solidFill>
                <a:latin typeface="Segoe UI"/>
              </a:rPr>
              <a:t>composite = 0.7 × technical + 0.3 × sentiment, clamped to [-1, 1]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2011680" cy="317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17320"/>
          <a:ext cx="6949438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77763"/>
                <a:gridCol w="3393912"/>
                <a:gridCol w="1777763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818CF8"/>
                          </a:solidFill>
                          <a:latin typeface="Segoe UI"/>
                        </a:rPr>
                        <a:t>Signal</a:t>
                      </a:r>
                    </a:p>
                  </a:txBody>
                  <a:tcPr marT="38100" marB="38100" marL="76200" marR="76200">
                    <a:solidFill>
                      <a:srgbClr val="27334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818CF8"/>
                          </a:solidFill>
                          <a:latin typeface="Segoe UI"/>
                        </a:rPr>
                        <a:t>Rule</a:t>
                      </a:r>
                    </a:p>
                  </a:txBody>
                  <a:tcPr marT="38100" marB="38100" marL="76200" marR="76200">
                    <a:solidFill>
                      <a:srgbClr val="27334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818CF8"/>
                          </a:solidFill>
                          <a:latin typeface="Segoe UI"/>
                        </a:rPr>
                        <a:t>Score</a:t>
                      </a:r>
                    </a:p>
                  </a:txBody>
                  <a:tcPr marT="38100" marB="38100" marL="76200" marR="76200">
                    <a:solidFill>
                      <a:srgbClr val="27334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5E7EB"/>
                          </a:solidFill>
                          <a:latin typeface="Segoe UI"/>
                        </a:rPr>
                        <a:t>SMA 20/50 trend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5E7EB"/>
                          </a:solidFill>
                          <a:latin typeface="Segoe UI"/>
                        </a:rPr>
                        <a:t>fast SMA above / below slow SMA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5E7EB"/>
                          </a:solidFill>
                          <a:latin typeface="Segoe UI"/>
                        </a:rPr>
                        <a:t>+1.0 / −1.0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5E7EB"/>
                          </a:solidFill>
                          <a:latin typeface="Segoe UI"/>
                        </a:rPr>
                        <a:t>RSI(14) momentum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5E7EB"/>
                          </a:solidFill>
                          <a:latin typeface="Segoe UI"/>
                        </a:rPr>
                        <a:t>oversold &lt;30 / overbought &gt;70 / neutral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5E7EB"/>
                          </a:solidFill>
                          <a:latin typeface="Segoe UI"/>
                        </a:rPr>
                        <a:t>+0.8 / −0.8 / 0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5E7EB"/>
                          </a:solidFill>
                          <a:latin typeface="Segoe UI"/>
                        </a:rPr>
                        <a:t>MACD(12,26,9)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5E7EB"/>
                          </a:solidFill>
                          <a:latin typeface="Segoe UI"/>
                        </a:rPr>
                        <a:t>histogram above / below zero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5E7EB"/>
                          </a:solidFill>
                          <a:latin typeface="Segoe UI"/>
                        </a:rPr>
                        <a:t>+0.6 / −0.6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5E7EB"/>
                          </a:solidFill>
                          <a:latin typeface="Segoe UI"/>
                        </a:rPr>
                        <a:t>Bollinger(20,2) %B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5E7EB"/>
                          </a:solidFill>
                          <a:latin typeface="Segoe UI"/>
                        </a:rPr>
                        <a:t>at lower band / upper band / inside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5E7EB"/>
                          </a:solidFill>
                          <a:latin typeface="Segoe UI"/>
                        </a:rPr>
                        <a:t>+0.5 / −0.5 / 0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5E7EB"/>
                          </a:solidFill>
                          <a:latin typeface="Segoe UI"/>
                        </a:rPr>
                        <a:t>News sentiment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5E7EB"/>
                          </a:solidFill>
                          <a:latin typeface="Segoe UI"/>
                        </a:rPr>
                        <a:t>avg VADER compound of ~10 articles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5E7EB"/>
                          </a:solidFill>
                          <a:latin typeface="Segoe UI"/>
                        </a:rPr>
                        <a:t>[−1, +1]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680960" y="1417320"/>
          <a:ext cx="4023359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67988"/>
                <a:gridCol w="2155371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818CF8"/>
                          </a:solidFill>
                          <a:latin typeface="Segoe UI"/>
                        </a:rPr>
                        <a:t>Verdict</a:t>
                      </a:r>
                    </a:p>
                  </a:txBody>
                  <a:tcPr marT="38100" marB="38100" marL="76200" marR="76200">
                    <a:solidFill>
                      <a:srgbClr val="27334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818CF8"/>
                          </a:solidFill>
                          <a:latin typeface="Segoe UI"/>
                        </a:rPr>
                        <a:t>Composite</a:t>
                      </a:r>
                    </a:p>
                  </a:txBody>
                  <a:tcPr marT="38100" marB="38100" marL="76200" marR="76200">
                    <a:solidFill>
                      <a:srgbClr val="27334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5E7EB"/>
                          </a:solidFill>
                          <a:latin typeface="Segoe UI"/>
                        </a:rPr>
                        <a:t>Strong Buy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5E7EB"/>
                          </a:solidFill>
                          <a:latin typeface="Segoe UI"/>
                        </a:rPr>
                        <a:t>≥ 0.50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5E7EB"/>
                          </a:solidFill>
                          <a:latin typeface="Segoe UI"/>
                        </a:rPr>
                        <a:t>Buy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5E7EB"/>
                          </a:solidFill>
                          <a:latin typeface="Segoe UI"/>
                        </a:rPr>
                        <a:t>≥ 0.15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5E7EB"/>
                          </a:solidFill>
                          <a:latin typeface="Segoe UI"/>
                        </a:rPr>
                        <a:t>Hold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5E7EB"/>
                          </a:solidFill>
                          <a:latin typeface="Segoe UI"/>
                        </a:rPr>
                        <a:t>≥ −0.15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5E7EB"/>
                          </a:solidFill>
                          <a:latin typeface="Segoe UI"/>
                        </a:rPr>
                        <a:t>Sell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5E7EB"/>
                          </a:solidFill>
                          <a:latin typeface="Segoe UI"/>
                        </a:rPr>
                        <a:t>≥ −0.50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5E7EB"/>
                          </a:solidFill>
                          <a:latin typeface="Segoe UI"/>
                        </a:rPr>
                        <a:t>Strong Sell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5E7EB"/>
                          </a:solidFill>
                          <a:latin typeface="Segoe UI"/>
                        </a:rPr>
                        <a:t>otherwise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20624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E5E7EB"/>
                </a:solidFill>
                <a:latin typeface="Segoe UI"/>
              </a:rPr>
              <a:t>• Technical score = mean of the available signal scores (signals with insufficient history are skipped).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E5E7EB"/>
                </a:solidFill>
                <a:latin typeface="Segoe UI"/>
              </a:rPr>
              <a:t>• If sentiment is disabled or unavailable, the composite falls back to the technical score alone.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E5E7EB"/>
                </a:solidFill>
                <a:latin typeface="Segoe UI"/>
              </a:rPr>
              <a:t>• Each signal carries a human-readable reason so the frontend can show why the harness reached its verdict, not just the number.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5E7EB"/>
                </a:solidFill>
                <a:latin typeface="Segoe UI"/>
              </a:rPr>
              <a:t>Strategy Backtest  ( /backtest )</a:t>
            </a:r>
          </a:p>
          <a:p>
            <a:r>
              <a:rPr sz="1300">
                <a:solidFill>
                  <a:srgbClr val="94A3B8"/>
                </a:solidFill>
                <a:latin typeface="Segoe UI"/>
              </a:rPr>
              <a:t>Rule-based strategies vs buy &amp; hold — optionally on a different benchmark instrument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2011680" cy="317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5_backtest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4288" y="1325880"/>
            <a:ext cx="6587823" cy="4846320"/>
          </a:xfrm>
          <a:prstGeom prst="rect">
            <a:avLst/>
          </a:prstGeom>
          <a:ln w="12700">
            <a:solidFill>
              <a:srgbClr val="334155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5120640" y="6223000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i="1">
                <a:solidFill>
                  <a:srgbClr val="94A3B8"/>
                </a:solidFill>
                <a:latin typeface="Segoe UI"/>
              </a:rPr>
              <a:t>Live run — trend_momentum on 2330 (2y, Yahoo): 131.2% vs holding 0050 at 113.7%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4480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818CF8"/>
                </a:solidFill>
                <a:latin typeface="Segoe UI"/>
              </a:rPr>
              <a:t>• Inputs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– Symbol, strategy (from /api/strategies), period, optional benchmark symbol, initial capital, per-strategy numeric params (auto-generated fields).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818CF8"/>
                </a:solidFill>
                <a:latin typeface="Segoe UI"/>
              </a:rPr>
              <a:t>• Execution model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– Long/flat only; signals execute at the next bar's close (no look-ahead).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– Commission in bps (default 10, clamp 0–500) on every position change; open positions marked to market.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818CF8"/>
                </a:solidFill>
                <a:latin typeface="Segoe UI"/>
              </a:rPr>
              <a:t>• Output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– Metric cards: Total Return, CAGR, Sharpe, Max DD, Trades, Win Rate.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– Equity curve vs benchmark (dashed), scrollable trade table with per-trade returns.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– Different benchmark symbols are forward-filled onto the strategy's date grid.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5E7EB"/>
                </a:solidFill>
                <a:latin typeface="Segoe UI"/>
              </a:rPr>
              <a:t>Strategy Catalog</a:t>
            </a:r>
          </a:p>
          <a:p>
            <a:r>
              <a:rPr sz="1300">
                <a:solidFill>
                  <a:srgbClr val="94A3B8"/>
                </a:solidFill>
                <a:latin typeface="Segoe UI"/>
              </a:rPr>
              <a:t>backend/python/quant/strategies.py — registry-driven; new entries appear in the UI automatically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2011680" cy="317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17320"/>
          <a:ext cx="11247119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45026"/>
                <a:gridCol w="6357067"/>
                <a:gridCol w="2445026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818CF8"/>
                          </a:solidFill>
                          <a:latin typeface="Segoe UI"/>
                        </a:rPr>
                        <a:t>Strategy</a:t>
                      </a:r>
                    </a:p>
                  </a:txBody>
                  <a:tcPr marT="38100" marB="38100" marL="76200" marR="76200">
                    <a:solidFill>
                      <a:srgbClr val="27334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818CF8"/>
                          </a:solidFill>
                          <a:latin typeface="Segoe UI"/>
                        </a:rPr>
                        <a:t>Logic</a:t>
                      </a:r>
                    </a:p>
                  </a:txBody>
                  <a:tcPr marT="38100" marB="38100" marL="76200" marR="76200">
                    <a:solidFill>
                      <a:srgbClr val="27334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818CF8"/>
                          </a:solidFill>
                          <a:latin typeface="Segoe UI"/>
                        </a:rPr>
                        <a:t>Default params</a:t>
                      </a:r>
                    </a:p>
                  </a:txBody>
                  <a:tcPr marT="38100" marB="38100" marL="76200" marR="76200">
                    <a:solidFill>
                      <a:srgbClr val="27334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5E7EB"/>
                          </a:solidFill>
                          <a:latin typeface="Segoe UI"/>
                        </a:rPr>
                        <a:t>sma_crossover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5E7EB"/>
                          </a:solidFill>
                          <a:latin typeface="Segoe UI"/>
                        </a:rPr>
                        <a:t>Long while the fast SMA is above the slow SMA (trend following)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5E7EB"/>
                          </a:solidFill>
                          <a:latin typeface="Segoe UI"/>
                        </a:rPr>
                        <a:t>fast 20 · slow 50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5E7EB"/>
                          </a:solidFill>
                          <a:latin typeface="Segoe UI"/>
                        </a:rPr>
                        <a:t>rsi_mean_reversion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5E7EB"/>
                          </a:solidFill>
                          <a:latin typeface="Segoe UI"/>
                        </a:rPr>
                        <a:t>Buy when RSI drops below oversold, exit above overbought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5E7EB"/>
                          </a:solidFill>
                          <a:latin typeface="Segoe UI"/>
                        </a:rPr>
                        <a:t>14 · 30 · 70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5E7EB"/>
                          </a:solidFill>
                          <a:latin typeface="Segoe UI"/>
                        </a:rPr>
                        <a:t>macd_momentum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5E7EB"/>
                          </a:solidFill>
                          <a:latin typeface="Segoe UI"/>
                        </a:rPr>
                        <a:t>Long while the MACD line is above its signal line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5E7EB"/>
                          </a:solidFill>
                          <a:latin typeface="Segoe UI"/>
                        </a:rPr>
                        <a:t>12 · 26 · 9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5E7EB"/>
                          </a:solidFill>
                          <a:latin typeface="Segoe UI"/>
                        </a:rPr>
                        <a:t>bollinger_reversion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5E7EB"/>
                          </a:solidFill>
                          <a:latin typeface="Segoe UI"/>
                        </a:rPr>
                        <a:t>Buy at the lower band, exit at the middle band (mean reversion)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5E7EB"/>
                          </a:solidFill>
                          <a:latin typeface="Segoe UI"/>
                        </a:rPr>
                        <a:t>period 20 · 2.0σ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5E7EB"/>
                          </a:solidFill>
                          <a:latin typeface="Segoe UI"/>
                        </a:rPr>
                        <a:t>trend_momentum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5E7EB"/>
                          </a:solidFill>
                          <a:latin typeface="Segoe UI"/>
                        </a:rPr>
                        <a:t>Long only above the 200-day SMA AND positive 63-day return; cash otherwise. Built to be judged against 0050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5E7EB"/>
                          </a:solidFill>
                          <a:latin typeface="Segoe UI"/>
                        </a:rPr>
                        <a:t>regime 200 · lookback 63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5E7EB"/>
                          </a:solidFill>
                          <a:latin typeface="Segoe UI"/>
                        </a:rPr>
                        <a:t>buy_and_hold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5E7EB"/>
                          </a:solidFill>
                          <a:latin typeface="Segoe UI"/>
                        </a:rPr>
                        <a:t>Fully invested from the first bar (benchmark)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5E7E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02920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E5E7EB"/>
                </a:solidFill>
                <a:latin typeface="Segoe UI"/>
              </a:rPr>
              <a:t>• A strategy is a pure function (closes, **params) → 0/1 target positions, one per bar; the backtester applies changes next bar.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E5E7EB"/>
                </a:solidFill>
                <a:latin typeface="Segoe UI"/>
              </a:rPr>
              <a:t>• Unknown strategy → 422 listing valid names; unexpected param names → 422 "Invalid params".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5E7EB"/>
                </a:solidFill>
                <a:latin typeface="Segoe UI"/>
              </a:rPr>
              <a:t>Investment Planner  ( /plan )</a:t>
            </a:r>
          </a:p>
          <a:p>
            <a:r>
              <a:rPr sz="1300">
                <a:solidFill>
                  <a:srgbClr val="94A3B8"/>
                </a:solidFill>
                <a:latin typeface="Segoe UI"/>
              </a:rPr>
              <a:t>Monthly DCA across chosen sectors, simulated on real history vs 0050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2011680" cy="317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7_plan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6890" y="1325880"/>
            <a:ext cx="4859819" cy="4846320"/>
          </a:xfrm>
          <a:prstGeom prst="rect">
            <a:avLst/>
          </a:prstGeom>
          <a:ln w="12700">
            <a:solidFill>
              <a:srgbClr val="334155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5577840" y="622300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i="1">
                <a:solidFill>
                  <a:srgbClr val="94A3B8"/>
                </a:solidFill>
                <a:latin typeface="Segoe UI"/>
              </a:rPr>
              <a:t>Live run — 10,000/month × 24 months, TW Semis + TW ETFs: 121.2% vs 0050 DCA 96.3% (ahead 24.9%)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49377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818CF8"/>
                </a:solidFill>
                <a:latin typeface="Segoe UI"/>
              </a:rPr>
              <a:t>• Inputs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– Monthly budget (&gt;0), span 1–5 years, benchmark (default 0050), sector cards: 6 Taiwan sectors, 2 US sectors, crypto.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818CF8"/>
                </a:solidFill>
                <a:latin typeface="Segoe UI"/>
              </a:rPr>
              <a:t>• Allocation rule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– Equal weight per selected sector, equal per ticker inside a sector — simple and explainable, no return-chasing optimization.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818CF8"/>
                </a:solidFill>
                <a:latin typeface="Segoe UI"/>
              </a:rPr>
              <a:t>• Historical simulation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– Buys at the first trading close of each month over the past N months (intersection of all holdings + benchmark; shortened with a warning if history is missing).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– Compared to identical monthly amounts into the benchmark; invested-cash line shown.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818CF8"/>
                </a:solidFill>
                <a:latin typeface="Segoe UI"/>
              </a:rPr>
              <a:t>• Projection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– Expected / +1σ / −1σ future value from historical monthly return &amp; volatility, labeled "a rough range, not a forecast"; mandatory disclaimer at the bottom.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5E7EB"/>
                </a:solidFill>
                <a:latin typeface="Segoe UI"/>
              </a:rPr>
              <a:t>Trade Console &amp; Sentiment Engine  ( /trade )</a:t>
            </a:r>
          </a:p>
          <a:p>
            <a:r>
              <a:rPr sz="1300">
                <a:solidFill>
                  <a:srgbClr val="94A3B8"/>
                </a:solidFill>
                <a:latin typeface="Segoe UI"/>
              </a:rPr>
              <a:t>Bot control surface (prototype) with the embedded AI Engine tab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2011680" cy="317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8_trad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663440" cy="2914650"/>
          </a:xfrm>
          <a:prstGeom prst="rect">
            <a:avLst/>
          </a:prstGeom>
          <a:ln w="12700">
            <a:solidFill>
              <a:srgbClr val="334155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57200" y="433705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i="1">
                <a:solidFill>
                  <a:srgbClr val="94A3B8"/>
                </a:solidFill>
                <a:latin typeface="Segoe UI"/>
              </a:rPr>
              <a:t>Trade console — mock status &amp; history (prototype)</a:t>
            </a:r>
          </a:p>
        </p:txBody>
      </p:sp>
      <p:pic>
        <p:nvPicPr>
          <p:cNvPr id="6" name="Picture 5" descr="09_sentiment_eng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9610" y="1371600"/>
            <a:ext cx="4271499" cy="4206240"/>
          </a:xfrm>
          <a:prstGeom prst="rect">
            <a:avLst/>
          </a:prstGeom>
          <a:ln w="12700">
            <a:solidFill>
              <a:srgbClr val="334155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394960" y="56286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i="1">
                <a:solidFill>
                  <a:srgbClr val="94A3B8"/>
                </a:solidFill>
                <a:latin typeface="Segoe UI"/>
              </a:rPr>
              <a:t>AI Engine — live VADER sentiment for "BTC": summary cards + per-article scores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0916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50" b="0">
                <a:solidFill>
                  <a:srgbClr val="E5E7EB"/>
                </a:solidFill>
                <a:latin typeface="Segoe UI"/>
              </a:rPr>
              <a:t>• Tabs: Overview (mock bot status/trades), AI Engine, plus empty stubs. Spec intent: live-bot control surface once an execution backend exists.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E5E7EB"/>
                </a:solidFill>
                <a:latin typeface="Segoe UI"/>
              </a:rPr>
              <a:t>• Sentiment: multi-query (comma/newline, max 10), 5–30 articles, per-article compound + label, excerpts, outbound links.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E5E7EB"/>
                </a:solidFill>
                <a:latin typeface="Segoe UI"/>
              </a:rPr>
              <a:t>• Falls back to labeled mock data offline; "Recent Searches" awaits its endpoint (QA H3).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5E7EB"/>
                </a:solidFill>
                <a:latin typeface="Segoe UI"/>
              </a:rPr>
              <a:t>Authentication  ( /login · /register )</a:t>
            </a:r>
          </a:p>
          <a:p>
            <a:r>
              <a:rPr sz="1300">
                <a:solidFill>
                  <a:srgbClr val="94A3B8"/>
                </a:solidFill>
                <a:latin typeface="Segoe UI"/>
              </a:rPr>
              <a:t>Express + MongoDB + JWT — UI complete, enforcement pending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2011680" cy="317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0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023360" cy="2514600"/>
          </a:xfrm>
          <a:prstGeom prst="rect">
            <a:avLst/>
          </a:prstGeom>
          <a:ln w="12700">
            <a:solidFill>
              <a:srgbClr val="334155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57200" y="39370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i="1">
                <a:solidFill>
                  <a:srgbClr val="94A3B8"/>
                </a:solidFill>
                <a:latin typeface="Segoe UI"/>
              </a:rPr>
              <a:t>Login</a:t>
            </a:r>
          </a:p>
        </p:txBody>
      </p:sp>
      <p:pic>
        <p:nvPicPr>
          <p:cNvPr id="6" name="Picture 5" descr="11_regi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71600"/>
            <a:ext cx="4023360" cy="2514600"/>
          </a:xfrm>
          <a:prstGeom prst="rect">
            <a:avLst/>
          </a:prstGeom>
          <a:ln w="12700">
            <a:solidFill>
              <a:srgbClr val="334155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572000" y="39370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i="1">
                <a:solidFill>
                  <a:srgbClr val="94A3B8"/>
                </a:solidFill>
                <a:latin typeface="Segoe UI"/>
              </a:rPr>
              <a:t>Register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1371600"/>
            <a:ext cx="3017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818CF8"/>
                </a:solidFill>
                <a:latin typeface="Segoe UI"/>
              </a:rPr>
              <a:t>• Register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– Email + password + confirm; bcrypt(10); duplicate email → 409; success modal → Login.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818CF8"/>
                </a:solidFill>
                <a:latin typeface="Segoe UI"/>
              </a:rPr>
              <a:t>• Login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– Unknown email → 404 "register first"; wrong password → 401; JWT (1h) stored in localStorage; modal → Dashboard.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F87171"/>
                </a:solidFill>
                <a:latin typeface="Segoe UI"/>
              </a:rPr>
              <a:t>• Gaps (QA M3)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– No route guards, no protected endpoints, no logout. Spec intent: guard Trade/Settings, verify JWT server-side, add logout to Navbar.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79552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E5E7EB"/>
                </a:solidFill>
                <a:latin typeface="Segoe UI"/>
              </a:rPr>
              <a:t>• Settings and About are static placeholders today. Settings intent: default market/benchmark, sentiment default, API keys.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5E7EB"/>
                </a:solidFill>
                <a:latin typeface="Segoe UI"/>
              </a:rPr>
              <a:t>API Contract</a:t>
            </a:r>
          </a:p>
          <a:p>
            <a:r>
              <a:rPr sz="1300">
                <a:solidFill>
                  <a:srgbClr val="94A3B8"/>
                </a:solidFill>
                <a:latin typeface="Segoe UI"/>
              </a:rPr>
              <a:t>FastAPI :8000 unless noted · TypeScript mirrors in src/api/*.ts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2011680" cy="317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18" cy="365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46381"/>
                <a:gridCol w="3307976"/>
                <a:gridCol w="3969571"/>
                <a:gridCol w="132319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18CF8"/>
                          </a:solidFill>
                          <a:latin typeface="Segoe UI"/>
                        </a:rPr>
                        <a:t>Endpoint</a:t>
                      </a:r>
                    </a:p>
                  </a:txBody>
                  <a:tcPr marT="38100" marB="38100" marL="76200" marR="76200">
                    <a:solidFill>
                      <a:srgbClr val="27334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18CF8"/>
                          </a:solidFill>
                          <a:latin typeface="Segoe UI"/>
                        </a:rPr>
                        <a:t>Params / body</a:t>
                      </a:r>
                    </a:p>
                  </a:txBody>
                  <a:tcPr marT="38100" marB="38100" marL="76200" marR="76200">
                    <a:solidFill>
                      <a:srgbClr val="27334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18CF8"/>
                          </a:solidFill>
                          <a:latin typeface="Segoe UI"/>
                        </a:rPr>
                        <a:t>Returns</a:t>
                      </a:r>
                    </a:p>
                  </a:txBody>
                  <a:tcPr marT="38100" marB="38100" marL="76200" marR="76200">
                    <a:solidFill>
                      <a:srgbClr val="27334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18CF8"/>
                          </a:solidFill>
                          <a:latin typeface="Segoe UI"/>
                        </a:rPr>
                        <a:t>Errors</a:t>
                      </a:r>
                    </a:p>
                  </a:txBody>
                  <a:tcPr marT="38100" marB="38100" marL="76200" marR="76200">
                    <a:solidFill>
                      <a:srgbClr val="27334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Segoe UI"/>
                        </a:rPr>
                        <a:t>GET /api/analyze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Segoe UI"/>
                        </a:rPr>
                        <a:t>symbol, days=365, include_sentiment=true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Segoe UI"/>
                        </a:rPr>
                        <a:t>verdict + composite/technical/sentiment scores, signals[], stats, chart series, warning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Segoe UI"/>
                        </a:rPr>
                        <a:t>400 · 422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Segoe UI"/>
                        </a:rPr>
                        <a:t>GET /api/history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Segoe UI"/>
                        </a:rPr>
                        <a:t>symbol, days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Segoe UI"/>
                        </a:rPr>
                        <a:t>raw OHLCV candles + source + warning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Segoe UI"/>
                        </a:rPr>
                        <a:t>400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Segoe UI"/>
                        </a:rPr>
                        <a:t>GET /api/strategies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Segoe UI"/>
                        </a:rPr>
                        <a:t>strategy catalog (name, label, description, params)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Segoe UI"/>
                        </a:rPr>
                        <a:t>POST /api/backtest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Segoe UI"/>
                        </a:rPr>
                        <a:t>symbol, strategy, params{}, days, initial_capital, commission_bps, benchmark_symbol?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Segoe UI"/>
                        </a:rPr>
                        <a:t>equity curve, trades, num_trades, win_rate, metrics + benchmark block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Segoe UI"/>
                        </a:rPr>
                        <a:t>400 · 422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Segoe UI"/>
                        </a:rPr>
                        <a:t>GET /api/sectors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Segoe UI"/>
                        </a:rPr>
                        <a:t>sector catalog with tickers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Segoe UI"/>
                        </a:rPr>
                        <a:t>POST /api/plan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Segoe UI"/>
                        </a:rPr>
                        <a:t>monthly_budget, months 3–120, sectors[], benchmark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Segoe UI"/>
                        </a:rPr>
                        <a:t>allocation, DCA simulation vs benchmark, ±1σ projection, warnings, disclaimer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Segoe UI"/>
                        </a:rPr>
                        <a:t>422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Segoe UI"/>
                        </a:rPr>
                        <a:t>GET /api/sentiment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Segoe UI"/>
                        </a:rPr>
                        <a:t>query, num_articles 1–50, model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Segoe UI"/>
                        </a:rPr>
                        <a:t>summary counts + avg compound, per-article scores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Segoe UI"/>
                        </a:rPr>
                        <a:t>POST /api/register  (:3000)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Segoe UI"/>
                        </a:rPr>
                        <a:t>email, password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Segoe UI"/>
                        </a:rPr>
                        <a:t>201 created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Segoe UI"/>
                        </a:rPr>
                        <a:t>400 · 409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Segoe UI"/>
                        </a:rPr>
                        <a:t>POST /api/login  (:3000)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Segoe UI"/>
                        </a:rPr>
                        <a:t>email, password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Segoe UI"/>
                        </a:rPr>
                        <a:t>JWT token (1h)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Segoe UI"/>
                        </a:rPr>
                        <a:t>404 · 401</a:t>
                      </a:r>
                    </a:p>
                  </a:txBody>
                  <a:tcPr marT="38100" marB="38100" marL="76200" marR="76200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7395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Segoe UI"/>
              </a:rPr>
              <a:t>Metrics = {total_return, cagr, sharpe, max_drawdown, volatility}.  Referenced but not implemented: GET /api/sentiment/history (QA H3).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5E7EB"/>
                </a:solidFill>
                <a:latin typeface="Segoe UI"/>
              </a:rPr>
              <a:t>Non-Functional Requirements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2011680" cy="317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760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818CF8"/>
                </a:solidFill>
                <a:latin typeface="Segoe UI"/>
              </a:rPr>
              <a:t>• Availability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– Every price-driven feature keeps working offline via the synthetic fallback, and visibly labels degraded data. Never show synthetic data as real — benchmarks included.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818CF8"/>
                </a:solidFill>
                <a:latin typeface="Segoe UI"/>
              </a:rPr>
              <a:t>• Correctness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– No look-ahead in backtests; benchmark always present; TS types must match API responses exactly (type-check gates the build).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818CF8"/>
                </a:solidFill>
                <a:latin typeface="Segoe UI"/>
              </a:rPr>
              <a:t>• Performance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– Analyze/backtest ≤ ~3 s for 2 years of daily data (pure-Python engine is O(n) per indicator).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– Sentiment currently exceeds acceptable latency (article fetches are sequential, QA M6) — target ≤ 8 s for 10 articles.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0" y="137160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818CF8"/>
                </a:solidFill>
                <a:latin typeface="Segoe UI"/>
              </a:rPr>
              <a:t>• Security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– Secrets via environment only (QA H4); CORS locked to the frontend origin in production (M9); rate-limited auth endpoints (M10); JWT verified on any future user-scoped endpoint.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818CF8"/>
                </a:solidFill>
                <a:latin typeface="Segoe UI"/>
              </a:rPr>
              <a:t>• Compliance / tone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– Every simulated or projected figure carries the disclaimer; verdicts are labeled model output, not advice.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818CF8"/>
                </a:solidFill>
                <a:latin typeface="Segoe UI"/>
              </a:rPr>
              <a:t>• Quality gates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– npm run type-check · lint · test:unit; backend smoke snippets in .claude/skills/*/SKILL.md.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5E7EB"/>
                </a:solidFill>
                <a:latin typeface="Segoe UI"/>
              </a:rPr>
              <a:t>Known Gaps &amp; Roadmap</a:t>
            </a:r>
          </a:p>
          <a:p>
            <a:r>
              <a:rPr sz="1300">
                <a:solidFill>
                  <a:srgbClr val="94A3B8"/>
                </a:solidFill>
                <a:latin typeface="Segoe UI"/>
              </a:rPr>
              <a:t>Cross-referenced with docs/QA_REPORT.md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2011680" cy="317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657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F87171"/>
                </a:solidFill>
                <a:latin typeface="Segoe UI"/>
              </a:rPr>
              <a:t>• Now — broken, fix first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– Dashboard chart pipeline → move to /api/history (QA H1/H2).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– Implement or remove sentiment history endpoint (H3).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– JWT secret from env; register proxy + validation (H4, M1, M2).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1371600"/>
            <a:ext cx="3657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818CF8"/>
                </a:solidFill>
                <a:latin typeface="Segoe UI"/>
              </a:rPr>
              <a:t>• Next — product debt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– Real portfolio model behind the Dashboard (positions, cash, P&amp;L).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– Route guards + logout + persisted per-user sentiment history — gives Login a purpose.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– Trade page: paper-trading loop driven by an existing strategy, or label "coming soon".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– Proper Tailwind v4 build; remove CDN scripts and dead scaffold code.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1371600"/>
            <a:ext cx="3657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• Later — ideas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– Strategy parameter sweeps / optimization view; save &amp; compare backtest runs.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– Alerts on verdict changes / signal crossovers via scheduled jobs.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– FinBERT as an optional model; multilingual news for TW symbols.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– Export plan/backtest results (CSV / PNG).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Segoe UI"/>
              </a:rPr>
              <a:t>Trading Bot · Product Specification v0.2 · 2026-07-10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